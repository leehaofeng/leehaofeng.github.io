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32" r:id="rId5"/>
    <p:sldId id="394" r:id="rId6"/>
    <p:sldId id="417" r:id="rId7"/>
    <p:sldId id="526" r:id="rId8"/>
    <p:sldId id="529" r:id="rId9"/>
    <p:sldId id="528" r:id="rId10"/>
    <p:sldId id="527" r:id="rId11"/>
    <p:sldId id="398" r:id="rId12"/>
    <p:sldId id="525" r:id="rId13"/>
    <p:sldId id="406" r:id="rId14"/>
    <p:sldId id="408" r:id="rId15"/>
    <p:sldId id="411" r:id="rId16"/>
    <p:sldId id="412" r:id="rId17"/>
    <p:sldId id="413" r:id="rId18"/>
    <p:sldId id="403" r:id="rId19"/>
    <p:sldId id="400" r:id="rId20"/>
    <p:sldId id="414" r:id="rId21"/>
    <p:sldId id="402" r:id="rId22"/>
    <p:sldId id="397" r:id="rId23"/>
    <p:sldId id="415" r:id="rId24"/>
    <p:sldId id="416" r:id="rId25"/>
    <p:sldId id="580" r:id="rId26"/>
    <p:sldId id="418" r:id="rId27"/>
    <p:sldId id="428" r:id="rId28"/>
    <p:sldId id="427" r:id="rId29"/>
    <p:sldId id="426" r:id="rId30"/>
    <p:sldId id="425" r:id="rId31"/>
    <p:sldId id="423" r:id="rId32"/>
    <p:sldId id="420" r:id="rId33"/>
    <p:sldId id="419" r:id="rId34"/>
    <p:sldId id="421" r:id="rId35"/>
    <p:sldId id="422" r:id="rId36"/>
    <p:sldId id="489" r:id="rId37"/>
    <p:sldId id="490" r:id="rId38"/>
    <p:sldId id="316" r:id="rId39"/>
    <p:sldId id="429" r:id="rId40"/>
    <p:sldId id="509" r:id="rId41"/>
    <p:sldId id="336" r:id="rId42"/>
    <p:sldId id="448" r:id="rId43"/>
    <p:sldId id="449" r:id="rId44"/>
    <p:sldId id="450" r:id="rId45"/>
    <p:sldId id="530" r:id="rId46"/>
    <p:sldId id="452" r:id="rId47"/>
    <p:sldId id="456" r:id="rId48"/>
    <p:sldId id="333" r:id="rId49"/>
    <p:sldId id="457" r:id="rId50"/>
    <p:sldId id="458" r:id="rId51"/>
    <p:sldId id="453" r:id="rId52"/>
    <p:sldId id="454" r:id="rId53"/>
    <p:sldId id="459" r:id="rId54"/>
    <p:sldId id="334" r:id="rId55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ED7D31"/>
    <a:srgbClr val="FFFFFF"/>
    <a:srgbClr val="FFC000"/>
    <a:srgbClr val="FDB5A4"/>
    <a:srgbClr val="194A96"/>
    <a:srgbClr val="C6E5E7"/>
    <a:srgbClr val="F2F2F2"/>
    <a:srgbClr val="C3BA9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2725" autoAdjust="0"/>
  </p:normalViewPr>
  <p:slideViewPr>
    <p:cSldViewPr snapToGrid="0" showGuides="1">
      <p:cViewPr varScale="1">
        <p:scale>
          <a:sx n="58" d="100"/>
          <a:sy n="58" d="100"/>
        </p:scale>
        <p:origin x="848" y="80"/>
      </p:cViewPr>
      <p:guideLst>
        <p:guide orient="horz" pos="240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3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Good morning, everyone. I am </a:t>
            </a:r>
            <a:r>
              <a:rPr lang="en-US" altLang="zh-CN" dirty="0" err="1"/>
              <a:t>Haofeng</a:t>
            </a:r>
            <a:r>
              <a:rPr lang="en-US" altLang="zh-CN" dirty="0"/>
              <a:t> Li</a:t>
            </a:r>
            <a:r>
              <a:rPr lang="zh-CN" altLang="en-US" dirty="0"/>
              <a:t>，</a:t>
            </a:r>
            <a:r>
              <a:rPr lang="en-US" altLang="zh-CN" dirty="0"/>
              <a:t> an assistant professor at the institute of computing technology of chinese academy of sciences. Today I am happy to present my work which is 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Boosting the Performance of Alias-Aware IFDS Analysis with CFL-based Environment Transformers, and this is joint work with </a:t>
            </a:r>
            <a:r>
              <a:rPr lang="en-US" altLang="zh-CN" dirty="0" err="1">
                <a:latin typeface="NimbusRomNo9L-Regu"/>
                <a:sym typeface="+mn-ea"/>
              </a:rPr>
              <a:t>Chenghang</a:t>
            </a:r>
            <a:r>
              <a:rPr lang="zh-CN" altLang="en-US" dirty="0">
                <a:latin typeface="NimbusRomNo9L-Regu"/>
                <a:sym typeface="+mn-ea"/>
              </a:rPr>
              <a:t> </a:t>
            </a:r>
            <a:r>
              <a:rPr lang="en-US" altLang="zh-CN" dirty="0">
                <a:latin typeface="NimbusRomNo9L-Regu"/>
                <a:sym typeface="+mn-ea"/>
              </a:rPr>
              <a:t>Shi, </a:t>
            </a:r>
            <a:r>
              <a:rPr lang="en-US" altLang="zh-CN" dirty="0" err="1">
                <a:latin typeface="NimbusRomNo9L-Regu"/>
                <a:sym typeface="+mn-ea"/>
              </a:rPr>
              <a:t>Jie</a:t>
            </a:r>
            <a:r>
              <a:rPr lang="zh-CN" altLang="en-US" dirty="0">
                <a:latin typeface="NimbusRomNo9L-Regu"/>
                <a:sym typeface="+mn-ea"/>
              </a:rPr>
              <a:t> </a:t>
            </a:r>
            <a:r>
              <a:rPr lang="en-US" altLang="zh-CN" dirty="0">
                <a:latin typeface="NimbusRomNo9L-Regu"/>
                <a:sym typeface="+mn-ea"/>
              </a:rPr>
              <a:t>Lu, Lian Li</a:t>
            </a:r>
            <a:r>
              <a:rPr lang="en-US" altLang="zh-CN" dirty="0">
                <a:latin typeface="CMSY8"/>
                <a:sym typeface="+mn-ea"/>
              </a:rPr>
              <a:t> </a:t>
            </a:r>
            <a:r>
              <a:rPr lang="en-US" altLang="zh-CN" dirty="0">
                <a:latin typeface="NimbusRomNo9L-Regu"/>
                <a:sym typeface="+mn-ea"/>
              </a:rPr>
              <a:t>and Jingling Xue.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 is IFDS? The IFDS framework,  initially proposed by Reps, solves inter-procedural, context-sensitive, and flow-sensitive analysis of finite distribute subset data-flow problems. IFDS problem can be transformed into a special kind of graph-reachability problem.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IFDS analysis algorithm has been implemented in various analysis and compilation frameworks, such as WALA, SOOT, and LLVM. Meantime, it can be used to solve a wide range of problems, such as pointer analysis, taint analysis, slicing analysis, bug detection, shape analysis and so on.</a:t>
            </a:r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Although the IFDS algorithm can solve data-flow problems precisely, mentime, it requires a significant amount of time. The time complexity is: the big O of E plus the cube of D where the D represents the set of data-flow facts. Generally,  the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Access Path</a:t>
            </a:r>
            <a:r>
              <a:rPr lang="en-US" altLang="zh-CN" dirty="0">
                <a:sym typeface="+mn-ea"/>
              </a:rPr>
              <a:t> (</a:t>
            </a:r>
            <a:r>
              <a:rPr lang="zh-CN" altLang="en-US" dirty="0">
                <a:sym typeface="+mn-ea"/>
              </a:rPr>
              <a:t>𝑣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𝑓∗</a:t>
            </a:r>
            <a:r>
              <a:rPr lang="en-US" altLang="zh-CN" dirty="0">
                <a:sym typeface="+mn-ea"/>
              </a:rPr>
              <a:t>)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dirty="0">
                <a:sym typeface="+mn-ea"/>
              </a:rPr>
              <a:t>is usually used to represent the element in D. In a previous study, an IFDS-based tool cannot analyze some applications in 24 hours on a super computer. In this paper, we propose a new field-sensitive approach to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reduce the size of D to improve performance.</a:t>
            </a:r>
            <a:endParaRPr lang="en-US" altLang="zh-CN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Next, I will introduce our approach by using a simple example. the return value of method source is assigned to variable s at line two. we suppose the return value of method soure is sensitive.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variable s is stored to different fields of variable a at lines three and four.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method foo is invoked at line five with variable a as actual parameter.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method foo, formal parameter x is assigned to variable y which is returned later.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line six value is loaded from b.g to variable c which is actual parameter of method sink at line seven. Now, the questions is: can the data extracted from method source at line two flow to the method sink at line seven?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Firstly, I will introduce how access path based taint analysis based on IFDS algorithm to solve this problem. variable s is tainted at line two.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access path a.f is tainted through store statement at line three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Meantime, tainted fact s is propagated along Control flow graph.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line four, s taints the access path a.g.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 continues to be propagated along CFG.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access path a.f is propgated to line five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access paths a.f and a.g both of which have the same base variable a are propagated to x.f and x.g seperately.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x.f and x.g taint y.f and y.g seperately at line nine.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 the four access paths are propagated along cfg seperately.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due to return flow, access paths a.f a.g b.f and b.g are tainted after line 5.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line six, only the access path b.g can taint c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other access paths are propagated along cfg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 the access path c is propagated to line seven and matches with the actual parameter of method sink.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 we can find a leak from line two to line seven. As we can see, during the solving process, there is a lot of redundant propagation of access paths which have the same base variables.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 how can we reduce redundant propagations of access paths that share the same base variables? Intuitively, we can only propagate base variables along CFG. The question then become: how to model field access? We will introduce our approach with the same example. Similairy, s is tainted at line two.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line three, a.f is tainted by s, here, </a:t>
            </a:r>
            <a:r>
              <a:rPr lang="en-US" altLang="zh-CN" dirty="0">
                <a:sym typeface="+mn-ea"/>
              </a:rPr>
              <a:t>Rather than computing tainted access path a.f, </a:t>
            </a:r>
            <a:r>
              <a:rPr lang="en-US" altLang="zh-CN" dirty="0"/>
              <a:t>we only propagate base varaible a and map </a:t>
            </a:r>
            <a:r>
              <a:rPr lang="en-US" altLang="zh-CN" dirty="0">
                <a:sym typeface="+mn-ea"/>
              </a:rPr>
              <a:t>field access f to </a:t>
            </a:r>
            <a:r>
              <a:rPr lang="en-US" altLang="zh-CN" dirty="0"/>
              <a:t>it. here we use horizontal lines above f to represent store f.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similarly, at line four, a is tainted with a map from a to store g.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 only base variable a is propagated to base variable x which is the formal parameter of method foo.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line nine, base variable y is tainted.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 base variables x and y are propagated along cfg, a and b are tainted due to return flow.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 line six, the value is loaded from b.g to c, here we taint the base variable c with a map from base varaible c to load g, here we use g without </a:t>
            </a:r>
            <a:r>
              <a:rPr lang="en-US" altLang="zh-CN" dirty="0">
                <a:sym typeface="+mn-ea"/>
              </a:rPr>
              <a:t>horizontal line to represent load field operation.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finally, base variable c is propagated to line seven.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when propagating base variables, we collect the field accesses each base variable mapped. when a taint propagation path is discovered, there are some field access sequences will be constructed </a:t>
            </a:r>
            <a:r>
              <a:rPr lang="en-US" altLang="zh-CN" dirty="0">
                <a:sym typeface="+mn-ea"/>
              </a:rPr>
              <a:t>concurrently</a:t>
            </a:r>
            <a:r>
              <a:rPr lang="en-US" altLang="zh-CN" dirty="0"/>
              <a:t>. Then we will check whether every field access sequence is valid. for instance, the green path is a taint propagation path, the field access sequence is store g load g which is valid.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however, for </a:t>
            </a:r>
            <a:r>
              <a:rPr lang="en-US" altLang="zh-CN" dirty="0">
                <a:sym typeface="+mn-ea"/>
              </a:rPr>
              <a:t>another taint propagation path, the blue path, the field access sequence is store f load g which is invalid.</a:t>
            </a:r>
            <a:endParaRPr lang="en-US" altLang="zh-CN" dirty="0">
              <a:sym typeface="+mn-ea"/>
            </a:endParaRPr>
          </a:p>
          <a:p>
            <a:r>
              <a:rPr lang="en-US" altLang="zh-CN" dirty="0"/>
              <a:t>The above is an example of our approach. 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is a more complex example, In practice, the code will be more complex. Our approach can significantly reduce data-flow facts to improve performance. I will introduce in evaluation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how can we do it? its not easy. There are three challenges. Number one: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How to propagate base variables and construct field accesses concurrently?  Number two: </a:t>
            </a:r>
            <a:r>
              <a:rPr lang="en-US" altLang="zh-CN" sz="1200" dirty="0">
                <a:latin typeface="Arial" panose="020B0604020202020204" pitchFamily="34" charset="0"/>
                <a:sym typeface="+mn-ea"/>
              </a:rPr>
              <a:t>How to model field access? Number three: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How to solve it efficiently? the right is our solution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r>
              <a:rPr lang="en-US" altLang="zh-CN" dirty="0"/>
              <a:t>I will introduce our approach in the following slides.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this is the overview of our approach. We </a:t>
            </a:r>
            <a:r>
              <a:rPr lang="en-US" altLang="zh-CN" sz="1200" dirty="0"/>
              <a:t>reinterpret the generation of access paths as a CFL for field-sensitivity and formulate it as an IDE problem. We use boomerang for alias queries.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Different from access-path-based </a:t>
            </a:r>
            <a:r>
              <a:rPr lang="en-US" altLang="zh-CN" dirty="0" err="1">
                <a:ea typeface="微软雅黑" panose="020B0503020204020204" pitchFamily="34" charset="-122"/>
              </a:rPr>
              <a:t>ifds</a:t>
            </a:r>
            <a:r>
              <a:rPr lang="en-US" altLang="zh-CN" dirty="0">
                <a:ea typeface="微软雅黑" panose="020B0503020204020204" pitchFamily="34" charset="-122"/>
              </a:rPr>
              <a:t> analysis, which propagates access path along </a:t>
            </a:r>
            <a:r>
              <a:rPr lang="en-US" altLang="zh-CN" dirty="0" err="1">
                <a:ea typeface="微软雅黑" panose="020B0503020204020204" pitchFamily="34" charset="-122"/>
              </a:rPr>
              <a:t>iter</a:t>
            </a:r>
            <a:r>
              <a:rPr lang="en-US" altLang="zh-CN" dirty="0">
                <a:ea typeface="微软雅黑" panose="020B0503020204020204" pitchFamily="34" charset="-122"/>
              </a:rPr>
              <a:t>-procedure </a:t>
            </a:r>
            <a:r>
              <a:rPr lang="en-US" altLang="zh-CN" dirty="0" err="1">
                <a:ea typeface="微软雅黑" panose="020B0503020204020204" pitchFamily="34" charset="-122"/>
              </a:rPr>
              <a:t>cfg</a:t>
            </a:r>
            <a:r>
              <a:rPr lang="en-US" altLang="zh-CN" dirty="0">
                <a:ea typeface="微软雅黑" panose="020B0503020204020204" pitchFamily="34" charset="-122"/>
              </a:rPr>
              <a:t>, we use IDE algorithm to propagate base variables and construct field access sequence concurrently. </a:t>
            </a:r>
            <a:r>
              <a:rPr lang="en-US" altLang="zh-CN" dirty="0">
                <a:ea typeface="微软雅黑" panose="020B0503020204020204" pitchFamily="34" charset="-122"/>
                <a:sym typeface="+mn-ea"/>
              </a:rPr>
              <a:t>IDE algorithm is an extension of IFDS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here is the flow functions of </a:t>
            </a:r>
            <a:r>
              <a:rPr lang="en-US" altLang="zh-CN" dirty="0" err="1">
                <a:sym typeface="+mn-ea"/>
              </a:rPr>
              <a:t>FlowDroid</a:t>
            </a:r>
            <a:r>
              <a:rPr lang="en-US" altLang="zh-CN" dirty="0">
                <a:sym typeface="+mn-ea"/>
              </a:rPr>
              <a:t> and </a:t>
            </a:r>
            <a:r>
              <a:rPr lang="en-US" altLang="zh-CN" dirty="0" err="1">
                <a:sym typeface="+mn-ea"/>
              </a:rPr>
              <a:t>IDEDroid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Flowdroid</a:t>
            </a:r>
            <a:r>
              <a:rPr lang="en-US" altLang="zh-CN" dirty="0">
                <a:sym typeface="+mn-ea"/>
              </a:rPr>
              <a:t> is access path based </a:t>
            </a:r>
            <a:r>
              <a:rPr lang="en-US" altLang="zh-CN" dirty="0" err="1">
                <a:sym typeface="+mn-ea"/>
              </a:rPr>
              <a:t>ifds</a:t>
            </a:r>
            <a:r>
              <a:rPr lang="en-US" altLang="zh-CN" dirty="0">
                <a:sym typeface="+mn-ea"/>
              </a:rPr>
              <a:t> analysis, and </a:t>
            </a:r>
            <a:r>
              <a:rPr lang="en-US" altLang="zh-CN" dirty="0" err="1">
                <a:sym typeface="+mn-ea"/>
              </a:rPr>
              <a:t>idedroid</a:t>
            </a:r>
            <a:r>
              <a:rPr lang="en-US" altLang="zh-CN" dirty="0">
                <a:sym typeface="+mn-ea"/>
              </a:rPr>
              <a:t> is our approach.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we can use IDE algorithm propogate base variables and construct the field access sequences. but how can we check whether a feild access sequence is valid? 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the Context free language for field access can solve this problem, here is the standard context free grammar for field-sensitivity. unfortunately, this grammar can only express flow-insensitive field access, this will disrupts the flow-sensitivity of the original IFDS/IDE analysis. so we introduced kill operation in the grammar to guarantee flow-sensitivity. We use wave lines above a field to represent kill operation aka</a:t>
            </a:r>
            <a:r>
              <a:rPr lang="zh-CN" altLang="en-US" dirty="0"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ea typeface="微软雅黑" panose="020B0503020204020204" pitchFamily="34" charset="-122"/>
              </a:rPr>
              <a:t>sanitize operation. here is the extended grammar, and the details are in the paper.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there is another problem: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Solving CFL-Reachability for field-sensitivity is time-intensive.  the theory time complexity of it is equal to solving IFDS/IDE algorithm. so we need an efficient algorithm to check whether a field access seqence is valid.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in our situation, we only check and construct valid access strings when we propagate base variables. so the problem becomes to : given two valid field access strings, how to check whether the combination of them is valid?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acorrding to this insights, we propose an efficient algorithm. this is the formalization of our efficient cfl-rechability solving. details are in the paper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ea typeface="微软雅黑" panose="020B0503020204020204" pitchFamily="34" charset="-122"/>
                  </a:rPr>
                  <a:t>obviously, our approach can reduce the size of data flow facts to improve the performance of the original IFDS algorithm. In addition, our</a:t>
                </a:r>
                <a:r>
                  <a:rPr lang="en-US" altLang="zh-CN" baseline="0" dirty="0">
                    <a:ea typeface="微软雅黑" panose="020B0503020204020204" pitchFamily="34" charset="-122"/>
                  </a:rPr>
                  <a:t> approach can 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also improve presion. let us look at this example. for access-path based </a:t>
                </a:r>
                <a:r>
                  <a:rPr lang="en-US" altLang="zh-CN" dirty="0" err="1">
                    <a:ea typeface="微软雅黑" panose="020B0503020204020204" pitchFamily="34" charset="-122"/>
                  </a:rPr>
                  <a:t>ifds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analysis, b1.h is tainted at line two, p.h is tainted at line seven. at line eight, x.f1.f2.h is tainted. Suppose here we limit</a:t>
                </a:r>
                <a:r>
                  <a:rPr lang="en-US" altLang="zh-CN" baseline="0" dirty="0">
                    <a:ea typeface="微软雅黑" panose="020B0503020204020204" pitchFamily="34" charset="-122"/>
                  </a:rPr>
                  <a:t> the field access length is two. K-limiting is standard technology to bound the size of access path. 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due to k-limiging, we over-approximately cut the last field h and replaced with star. so tainted access path becomes to x.f1.f2.*. at line nine, y.* is tainted. then b2.* is tainted due to return flow. because we don’t known which field of b2 is tainted, at line four, we just over-approximately taint c.*. this will result in a false positive at line five. In our approach, we check and discard the matched field access string 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acc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</m:oMath>
                </a14:m>
                <a:r>
                  <a:rPr lang="en-US" altLang="zh-CN" dirty="0">
                    <a:ea typeface="微软雅黑" panose="020B0503020204020204" pitchFamily="34" charset="-122"/>
                  </a:rPr>
                  <a:t>, so our </a:t>
                </a:r>
                <a:r>
                  <a:rPr lang="en-US" altLang="zh-CN" dirty="0" err="1">
                    <a:ea typeface="微软雅黑" panose="020B0503020204020204" pitchFamily="34" charset="-122"/>
                  </a:rPr>
                  <a:t>approch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will not exceed the k-limiting and preserve precision.</a:t>
                </a:r>
                <a:endParaRPr lang="en-US" altLang="zh-CN" dirty="0"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this is another example. access path based IFDS cannot model kill operation for some cases. Our approach can model kill operation explicitly.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here is the experiments. We evaluate idedroid and flowdroid on 14 benign applications from fossdroid and 10 malware applications from drebin. both tools </a:t>
            </a:r>
            <a:r>
              <a:rPr lang="en-US" altLang="zh-CN" dirty="0">
                <a:ea typeface="微软雅黑" panose="020B0503020204020204" pitchFamily="34" charset="-122"/>
                <a:sym typeface="+mn-ea"/>
              </a:rPr>
              <a:t>use the same configurations such as sources, sinks, and so on. </a:t>
            </a:r>
            <a:r>
              <a:rPr lang="en-US" altLang="zh-CN" dirty="0">
                <a:ea typeface="微软雅黑" panose="020B0503020204020204" pitchFamily="34" charset="-122"/>
              </a:rPr>
              <a:t> Then To evaluate the impact of our research we focused on the some research questions.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our approach can reduce the size of data-flow facts significantly. here is t</a:t>
            </a:r>
            <a:r>
              <a:rPr lang="zh-CN" altLang="en-US" dirty="0">
                <a:sym typeface="+mn-ea"/>
              </a:rPr>
              <a:t>he ratio of the data-flow facts processed by FlowDroid over that of IDEDroid.</a:t>
            </a:r>
            <a:r>
              <a:rPr lang="en-US" altLang="zh-CN" dirty="0">
                <a:sym typeface="+mn-ea"/>
              </a:rPr>
              <a:t> for the first </a:t>
            </a:r>
            <a:r>
              <a:rPr lang="en-US" altLang="zh-CN" dirty="0" err="1">
                <a:sym typeface="+mn-ea"/>
              </a:rPr>
              <a:t>benchmamrk</a:t>
            </a:r>
            <a:r>
              <a:rPr lang="en-US" altLang="zh-CN" dirty="0">
                <a:sym typeface="+mn-ea"/>
              </a:rPr>
              <a:t>, the facts produced by </a:t>
            </a:r>
            <a:r>
              <a:rPr lang="en-US" altLang="zh-CN" dirty="0" err="1">
                <a:sym typeface="+mn-ea"/>
              </a:rPr>
              <a:t>flowdroid</a:t>
            </a:r>
            <a:r>
              <a:rPr lang="en-US" altLang="zh-CN" dirty="0">
                <a:sym typeface="+mn-ea"/>
              </a:rPr>
              <a:t> are almost 10x larger than that of </a:t>
            </a:r>
            <a:r>
              <a:rPr lang="en-US" altLang="zh-CN" dirty="0" err="1">
                <a:sym typeface="+mn-ea"/>
              </a:rPr>
              <a:t>idedroid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IDEDroid significantly outperforms FlowDroid, achieving speedups ranging from 2.1× (FNK) to an impressive 2, 368.4× (SMSreg), with an average speedup of 222.0×.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are some famous open-source applications, idedroid can analyze them in tens of seconds. idedroid can also imporve presion. I will introduce later.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for all benchmarks, idedroid always use less memory than flowdroid.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there are three key benefits of our CFL-based approach over the traditional access-path-based approach for enforcing field-sensitivity in the IFDS/IDE framework: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Firstly, idedroid generates fewer data-flow facts i have introduced in the previous slides. secondly, idedroid can reduce fewer propagations which means fewer path edges and summary edges. thirdly, idedroid can trigger fewer alias queries.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Question 2 precision. there are four benchmarks, idedroid reported fewer leaks than flowdroid, After manual verification, all of these leaks are false positives of flowdroid.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Question 3. </a:t>
            </a:r>
            <a:r>
              <a:rPr lang="en-US" altLang="zh-CN" dirty="0" err="1">
                <a:ea typeface="微软雅黑" panose="020B0503020204020204" pitchFamily="34" charset="-122"/>
              </a:rPr>
              <a:t>IDEDroid</a:t>
            </a:r>
            <a:r>
              <a:rPr lang="en-US" altLang="zh-CN" dirty="0">
                <a:ea typeface="微软雅黑" panose="020B0503020204020204" pitchFamily="34" charset="-122"/>
              </a:rPr>
              <a:t> also offers two strategies for balancing precision and efficiency. the first, Limiting Field Accesses Per Base Variable, after </a:t>
            </a:r>
            <a:r>
              <a:rPr lang="en-US" altLang="zh-CN" dirty="0">
                <a:ea typeface="微软雅黑" panose="020B0503020204020204" pitchFamily="34" charset="-122"/>
                <a:sym typeface="+mn-ea"/>
              </a:rPr>
              <a:t>Limiting Field Accesses Per Base Variable</a:t>
            </a:r>
            <a:r>
              <a:rPr lang="en-US" altLang="zh-CN" dirty="0">
                <a:ea typeface="微软雅黑" panose="020B0503020204020204" pitchFamily="34" charset="-122"/>
              </a:rPr>
              <a:t> idedroid can further speed up.  Meantime, The precision for most apps remains unchanged even for limiting to 100 and 10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微软雅黑" panose="020B0503020204020204" pitchFamily="34" charset="-122"/>
              </a:rPr>
              <a:t>the second, Limiting Field Access Lengths, same as traditional k-limiting technology. flowdroid limits access path length whereas IDEDroid limits field access string length. Under different k ( from 1 to 5), no matter performance or pricision, idedroid is always better than flowdroid</a:t>
            </a:r>
            <a:endParaRPr lang="en-US" altLang="zh-CN" dirty="0"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247" y="0"/>
            <a:ext cx="788352" cy="7883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无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247" y="0"/>
            <a:ext cx="788352" cy="7883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1.jpe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e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e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e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e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emf"/><Relationship Id="rId2" Type="http://schemas.openxmlformats.org/officeDocument/2006/relationships/oleObject" Target="../embeddings/oleObject14.bin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e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e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e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e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e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e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e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e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emf"/><Relationship Id="rId2" Type="http://schemas.openxmlformats.org/officeDocument/2006/relationships/oleObject" Target="../embeddings/oleObject23.bin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emf"/><Relationship Id="rId2" Type="http://schemas.openxmlformats.org/officeDocument/2006/relationships/oleObject" Target="../embeddings/oleObject24.bin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emf"/><Relationship Id="rId2" Type="http://schemas.openxmlformats.org/officeDocument/2006/relationships/oleObject" Target="../embeddings/oleObject25.bin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emf"/><Relationship Id="rId2" Type="http://schemas.openxmlformats.org/officeDocument/2006/relationships/oleObject" Target="../embeddings/oleObject26.bin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emf"/><Relationship Id="rId2" Type="http://schemas.openxmlformats.org/officeDocument/2006/relationships/oleObject" Target="../embeddings/oleObject27.bin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png"/><Relationship Id="rId3" Type="http://schemas.openxmlformats.org/officeDocument/2006/relationships/image" Target="../media/image37.emf"/><Relationship Id="rId2" Type="http://schemas.openxmlformats.org/officeDocument/2006/relationships/oleObject" Target="../embeddings/oleObject28.bin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emf"/><Relationship Id="rId2" Type="http://schemas.openxmlformats.org/officeDocument/2006/relationships/oleObject" Target="../embeddings/oleObject29.bin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2" Type="http://schemas.openxmlformats.org/officeDocument/2006/relationships/notesSlide" Target="../notesSlides/notesSlide40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3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4.png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731329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466447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1482725"/>
            <a:ext cx="12192000" cy="224409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11689" y="1656758"/>
            <a:ext cx="99686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4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副标题 2"/>
          <p:cNvSpPr txBox="1"/>
          <p:nvPr/>
        </p:nvSpPr>
        <p:spPr>
          <a:xfrm>
            <a:off x="1885633" y="4057015"/>
            <a:ext cx="8420735" cy="8280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 err="1">
                <a:latin typeface="NimbusRomNo9L-Regu"/>
              </a:rPr>
              <a:t>Haofeng</a:t>
            </a:r>
            <a:r>
              <a:rPr lang="en-US" altLang="zh-CN" sz="2400" b="1" dirty="0">
                <a:latin typeface="NimbusRomNo9L-Regu"/>
              </a:rPr>
              <a:t> Li</a:t>
            </a:r>
            <a:r>
              <a:rPr lang="en-US" altLang="zh-CN" sz="2400" dirty="0">
                <a:latin typeface="NimbusRomNo9L-Regu"/>
              </a:rPr>
              <a:t>, </a:t>
            </a:r>
            <a:r>
              <a:rPr lang="en-US" altLang="zh-CN" sz="2400" dirty="0" err="1">
                <a:latin typeface="NimbusRomNo9L-Regu"/>
              </a:rPr>
              <a:t>Chenghang</a:t>
            </a:r>
            <a:r>
              <a:rPr lang="zh-CN" altLang="en-US" sz="2400" dirty="0">
                <a:latin typeface="NimbusRomNo9L-Regu"/>
              </a:rPr>
              <a:t> </a:t>
            </a:r>
            <a:r>
              <a:rPr lang="en-US" altLang="zh-CN" sz="2400" dirty="0">
                <a:latin typeface="NimbusRomNo9L-Regu"/>
              </a:rPr>
              <a:t>Shi, </a:t>
            </a:r>
            <a:r>
              <a:rPr lang="en-US" altLang="zh-CN" sz="2400" dirty="0" err="1">
                <a:latin typeface="NimbusRomNo9L-Regu"/>
              </a:rPr>
              <a:t>Jie</a:t>
            </a:r>
            <a:r>
              <a:rPr lang="zh-CN" altLang="en-US" sz="2400" dirty="0">
                <a:latin typeface="NimbusRomNo9L-Regu"/>
              </a:rPr>
              <a:t> </a:t>
            </a:r>
            <a:r>
              <a:rPr lang="en-US" altLang="zh-CN" sz="2400" dirty="0">
                <a:latin typeface="NimbusRomNo9L-Regu"/>
              </a:rPr>
              <a:t>Lu, Lian Li</a:t>
            </a:r>
            <a:r>
              <a:rPr lang="en-US" altLang="zh-CN" sz="2400" dirty="0">
                <a:latin typeface="CMSY8"/>
              </a:rPr>
              <a:t> </a:t>
            </a:r>
            <a:r>
              <a:rPr lang="en-US" altLang="zh-CN" sz="2400" dirty="0">
                <a:latin typeface="NimbusRomNo9L-Regu"/>
              </a:rPr>
              <a:t>and Jingling Xue</a:t>
            </a:r>
            <a:endParaRPr lang="en-US" altLang="zh-CN" sz="2400" dirty="0">
              <a:latin typeface="CMSY8"/>
            </a:endParaRPr>
          </a:p>
          <a:p>
            <a:pPr marL="0" indent="0" algn="ctr">
              <a:buNone/>
            </a:pPr>
            <a:endParaRPr lang="zh-CN" altLang="en-US" sz="1400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962" y="4811146"/>
            <a:ext cx="1260000" cy="1260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553427" y="5962097"/>
            <a:ext cx="40628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Institute of Computing Technology, 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 academy of sciences</a:t>
            </a:r>
            <a:endParaRPr lang="zh-CN" altLang="en-US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626877" y="5989859"/>
            <a:ext cx="33396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University</a:t>
            </a:r>
            <a:r>
              <a:rPr lang="en-US" altLang="zh-CN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of Chinese Academy of Sciences</a:t>
            </a:r>
            <a:endParaRPr lang="zh-CN" altLang="en-US" sz="1800" kern="12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196" y="4801859"/>
            <a:ext cx="1216135" cy="1162292"/>
          </a:xfrm>
          <a:prstGeom prst="rect">
            <a:avLst/>
          </a:prstGeom>
        </p:spPr>
      </p:pic>
      <p:pic>
        <p:nvPicPr>
          <p:cNvPr id="16" name="图片 15" descr="unsw_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0475" y="4883150"/>
            <a:ext cx="2524760" cy="1071245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8203565" y="6129020"/>
            <a:ext cx="37280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University of New South Wales</a:t>
            </a:r>
            <a:endParaRPr lang="zh-CN" altLang="en-US" sz="1800" kern="12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950" y="9525"/>
            <a:ext cx="4464050" cy="1397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sp>
        <p:nvSpPr>
          <p:cNvPr id="39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2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IFDS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内容占位符 2"/>
          <p:cNvSpPr txBox="1"/>
          <p:nvPr/>
        </p:nvSpPr>
        <p:spPr>
          <a:xfrm>
            <a:off x="838200" y="1571627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The IFDS analysis framework solves </a:t>
            </a:r>
            <a:r>
              <a:rPr lang="en-US" altLang="zh-CN" u="sng" dirty="0"/>
              <a:t>I</a:t>
            </a:r>
            <a:r>
              <a:rPr lang="en-US" altLang="zh-CN" dirty="0"/>
              <a:t>nter-procedural, context-sensitive, and flow-sensitive analysis of </a:t>
            </a:r>
            <a:r>
              <a:rPr lang="en-US" altLang="zh-CN" u="sng" dirty="0"/>
              <a:t>F</a:t>
            </a:r>
            <a:r>
              <a:rPr lang="en-US" altLang="zh-CN" dirty="0"/>
              <a:t>inite </a:t>
            </a:r>
            <a:r>
              <a:rPr lang="en-US" altLang="zh-CN" u="sng" dirty="0"/>
              <a:t>D</a:t>
            </a:r>
            <a:r>
              <a:rPr lang="en-US" altLang="zh-CN" dirty="0"/>
              <a:t>istribute </a:t>
            </a:r>
            <a:r>
              <a:rPr lang="en-US" altLang="zh-CN" u="sng" dirty="0"/>
              <a:t>S</a:t>
            </a:r>
            <a:r>
              <a:rPr lang="en-US" altLang="zh-CN" dirty="0"/>
              <a:t>ubset data-flow problems. To implemant </a:t>
            </a:r>
            <a:r>
              <a:rPr lang="en-US" altLang="zh-CN" dirty="0">
                <a:solidFill>
                  <a:srgbClr val="FF0000"/>
                </a:solidFill>
              </a:rPr>
              <a:t>field-sensitivity</a:t>
            </a:r>
            <a:r>
              <a:rPr lang="en-US" altLang="zh-CN" dirty="0"/>
              <a:t>, current works usually use </a:t>
            </a:r>
            <a:r>
              <a:rPr lang="en-US" altLang="zh-CN" dirty="0">
                <a:solidFill>
                  <a:srgbClr val="FF0000"/>
                </a:solidFill>
              </a:rPr>
              <a:t>Access Path</a:t>
            </a:r>
            <a:r>
              <a:rPr lang="en-US" altLang="zh-CN" dirty="0"/>
              <a:t> 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𝑣</a:t>
            </a:r>
            <a:r>
              <a:rPr lang="en-US" altLang="zh-CN" dirty="0">
                <a:sym typeface="+mn-ea"/>
              </a:rPr>
              <a:t>. </a:t>
            </a:r>
            <a:r>
              <a:rPr lang="zh-CN" altLang="en-US" dirty="0">
                <a:sym typeface="+mn-ea"/>
              </a:rPr>
              <a:t>𝑓∗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/>
              <a:t>to represent data-flow facts.</a:t>
            </a:r>
            <a:endParaRPr lang="en-US" altLang="zh-CN" dirty="0"/>
          </a:p>
          <a:p>
            <a:r>
              <a:rPr lang="en-US" altLang="zh-CN" dirty="0"/>
              <a:t>Reps et al. </a:t>
            </a:r>
            <a:r>
              <a:rPr lang="en-US" altLang="zh-CN" baseline="30000" dirty="0"/>
              <a:t>[1]</a:t>
            </a:r>
            <a:r>
              <a:rPr lang="en-US" altLang="zh-CN" dirty="0"/>
              <a:t> transforming IFDS problems into a special kind of graph-reachability problem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endParaRPr lang="en-US" altLang="zh-CN" sz="1400" i="1" dirty="0">
              <a:solidFill>
                <a:srgbClr val="333333"/>
              </a:solidFill>
              <a:latin typeface="Courier New" panose="02070309020205020404" pitchFamily="49" charset="0"/>
            </a:endParaRPr>
          </a:p>
          <a:p>
            <a:endParaRPr lang="en-US" altLang="zh-CN" sz="1400" i="1" dirty="0">
              <a:solidFill>
                <a:srgbClr val="333333"/>
              </a:solidFill>
              <a:latin typeface="Courier New" panose="02070309020205020404" pitchFamily="49" charset="0"/>
            </a:endParaRPr>
          </a:p>
          <a:p>
            <a:r>
              <a:rPr lang="en-US" altLang="zh-CN" sz="1400" i="1" dirty="0">
                <a:solidFill>
                  <a:srgbClr val="333333"/>
                </a:solidFill>
                <a:latin typeface="Courier New" panose="02070309020205020404" pitchFamily="49" charset="0"/>
              </a:rPr>
              <a:t>[1]Thomas Reps, Susan Horwitz, and </a:t>
            </a:r>
            <a:r>
              <a:rPr lang="en-US" altLang="zh-CN" sz="1400" i="1" dirty="0" err="1">
                <a:solidFill>
                  <a:srgbClr val="333333"/>
                </a:solidFill>
                <a:latin typeface="Courier New" panose="02070309020205020404" pitchFamily="49" charset="0"/>
              </a:rPr>
              <a:t>Mooly</a:t>
            </a:r>
            <a:r>
              <a:rPr lang="en-US" altLang="zh-CN" sz="1400" i="1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400" i="1" dirty="0" err="1">
                <a:solidFill>
                  <a:srgbClr val="333333"/>
                </a:solidFill>
                <a:latin typeface="Courier New" panose="02070309020205020404" pitchFamily="49" charset="0"/>
              </a:rPr>
              <a:t>Sagiv</a:t>
            </a:r>
            <a:r>
              <a:rPr lang="en-US" altLang="zh-CN" sz="1400" i="1" dirty="0">
                <a:solidFill>
                  <a:srgbClr val="333333"/>
                </a:solidFill>
                <a:latin typeface="Courier New" panose="02070309020205020404" pitchFamily="49" charset="0"/>
              </a:rPr>
              <a:t>. 1995. Precise </a:t>
            </a:r>
            <a:r>
              <a:rPr lang="en-US" altLang="zh-CN" sz="1400" i="1" dirty="0" err="1">
                <a:solidFill>
                  <a:srgbClr val="333333"/>
                </a:solidFill>
                <a:latin typeface="Courier New" panose="02070309020205020404" pitchFamily="49" charset="0"/>
              </a:rPr>
              <a:t>interprocedural</a:t>
            </a:r>
            <a:r>
              <a:rPr lang="en-US" altLang="zh-CN" sz="1400" i="1" dirty="0">
                <a:solidFill>
                  <a:srgbClr val="333333"/>
                </a:solidFill>
                <a:latin typeface="Courier New" panose="02070309020205020404" pitchFamily="49" charset="0"/>
              </a:rPr>
              <a:t> dataflow analysis via graph reachability. In Proceedings of the 22nd ACM SIGPLAN-SIGACT symposium on Principles of programming languages (POPL '95). Association for Computing Machinery, New York, NY, USA, 49–61. </a:t>
            </a:r>
            <a:r>
              <a:rPr lang="en-US" altLang="zh-CN" sz="1400" i="1" dirty="0" err="1">
                <a:solidFill>
                  <a:srgbClr val="333333"/>
                </a:solidFill>
                <a:latin typeface="Courier New" panose="02070309020205020404" pitchFamily="49" charset="0"/>
              </a:rPr>
              <a:t>DOI:https</a:t>
            </a:r>
            <a:r>
              <a:rPr lang="en-US" altLang="zh-CN" sz="1400" i="1" dirty="0">
                <a:solidFill>
                  <a:srgbClr val="333333"/>
                </a:solidFill>
                <a:latin typeface="Courier New" panose="02070309020205020404" pitchFamily="49" charset="0"/>
              </a:rPr>
              <a:t>://doi.org/10.1145/199448.199462</a:t>
            </a:r>
            <a:endParaRPr lang="zh-CN" altLang="en-US" sz="1400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sp>
        <p:nvSpPr>
          <p:cNvPr id="39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2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IFDS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156436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IFDS can be used to solve a wide range of problems:</a:t>
            </a:r>
            <a:endParaRPr lang="en-US" altLang="zh-CN" dirty="0"/>
          </a:p>
          <a:p>
            <a:pPr lvl="1"/>
            <a:r>
              <a:rPr lang="en-US" altLang="zh-CN" dirty="0"/>
              <a:t>pointer analysis</a:t>
            </a:r>
            <a:endParaRPr lang="en-US" altLang="zh-CN" dirty="0"/>
          </a:p>
          <a:p>
            <a:pPr lvl="1"/>
            <a:r>
              <a:rPr lang="en-US" altLang="zh-CN" dirty="0"/>
              <a:t>taint analysis</a:t>
            </a:r>
            <a:endParaRPr lang="en-US" altLang="zh-CN" dirty="0"/>
          </a:p>
          <a:p>
            <a:pPr lvl="1"/>
            <a:r>
              <a:rPr lang="en-US" altLang="zh-CN" dirty="0"/>
              <a:t>slicing</a:t>
            </a:r>
            <a:endParaRPr lang="en-US" altLang="zh-CN" dirty="0"/>
          </a:p>
          <a:p>
            <a:pPr lvl="1"/>
            <a:r>
              <a:rPr lang="en-US" altLang="zh-CN" dirty="0"/>
              <a:t>bug detection</a:t>
            </a:r>
            <a:endParaRPr lang="en-US" altLang="zh-CN" dirty="0"/>
          </a:p>
          <a:p>
            <a:pPr lvl="1"/>
            <a:r>
              <a:rPr lang="en-US" altLang="zh-CN" dirty="0"/>
              <a:t>shape analysis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10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952601"/>
            <a:ext cx="3584348" cy="7522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740" y="4447142"/>
            <a:ext cx="2324590" cy="17631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22" y="4233985"/>
            <a:ext cx="2189456" cy="21894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sp>
        <p:nvSpPr>
          <p:cNvPr id="39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2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IFDS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IFDS algorithm is time-intensive</a:t>
            </a:r>
            <a:endParaRPr lang="en-US" altLang="zh-CN" dirty="0"/>
          </a:p>
          <a:p>
            <a:r>
              <a:rPr lang="en-US" altLang="zh-CN" dirty="0"/>
              <a:t>Time complexity: O(|E|</a:t>
            </a:r>
            <a:r>
              <a:rPr lang="en-US" altLang="zh-CN" dirty="0">
                <a:solidFill>
                  <a:srgbClr val="FF0000"/>
                </a:solidFill>
              </a:rPr>
              <a:t>|D|</a:t>
            </a:r>
            <a:r>
              <a:rPr lang="en-US" altLang="zh-CN" baseline="30000" dirty="0"/>
              <a:t>3</a:t>
            </a:r>
            <a:r>
              <a:rPr lang="en-US" altLang="zh-CN" dirty="0"/>
              <a:t>) </a:t>
            </a:r>
            <a:endParaRPr lang="en-US" altLang="zh-CN" dirty="0"/>
          </a:p>
          <a:p>
            <a:pPr lvl="1"/>
            <a:r>
              <a:rPr lang="en-US" altLang="zh-CN" dirty="0"/>
              <a:t>E  represents edges in the graph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 represents the set of data-flow facts. </a:t>
            </a:r>
            <a:r>
              <a:rPr lang="en-US" altLang="zh-CN" dirty="0">
                <a:solidFill>
                  <a:srgbClr val="FF0000"/>
                </a:solidFill>
              </a:rPr>
              <a:t>Access Path</a:t>
            </a:r>
            <a:r>
              <a:rPr lang="en-US" altLang="zh-CN" dirty="0">
                <a:solidFill>
                  <a:schemeClr val="tx1"/>
                </a:solidFill>
              </a:rPr>
              <a:t> (</a:t>
            </a:r>
            <a:r>
              <a:rPr lang="zh-CN" altLang="en-US" dirty="0">
                <a:solidFill>
                  <a:schemeClr val="tx1"/>
                </a:solidFill>
              </a:rPr>
              <a:t>𝑣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r>
              <a:rPr lang="zh-CN" altLang="en-US" dirty="0">
                <a:solidFill>
                  <a:schemeClr val="tx1"/>
                </a:solidFill>
              </a:rPr>
              <a:t>𝑓∗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is usually used to represent the element in D. </a:t>
            </a:r>
            <a:r>
              <a:rPr lang="en-US" altLang="zh-CN" dirty="0">
                <a:solidFill>
                  <a:srgbClr val="FF0000"/>
                </a:solidFill>
              </a:rPr>
              <a:t>K-Limiting</a:t>
            </a:r>
            <a:r>
              <a:rPr lang="en-US" altLang="zh-CN" dirty="0"/>
              <a:t> is used to limit the length of field access seqence to limit the unbounded size of D.</a:t>
            </a:r>
            <a:endParaRPr lang="en-US" altLang="zh-CN" dirty="0"/>
          </a:p>
          <a:p>
            <a:r>
              <a:rPr lang="en-US" altLang="zh-CN" dirty="0"/>
              <a:t>16/2,950 Android apps are unanalyzable on a computer server with 730GB of RAM and 64 Intel Xeon CPU cores</a:t>
            </a:r>
            <a:r>
              <a:rPr lang="en-US" altLang="zh-CN" baseline="30000" dirty="0"/>
              <a:t>[1]</a:t>
            </a:r>
            <a:endParaRPr lang="en-US" altLang="zh-CN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[1]V. </a:t>
            </a:r>
            <a:r>
              <a:rPr lang="en-US" altLang="zh-CN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Avdiienko</a:t>
            </a:r>
            <a:r>
              <a:rPr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K. </a:t>
            </a:r>
            <a:r>
              <a:rPr lang="en-US" altLang="zh-CN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Kuznetsov</a:t>
            </a:r>
            <a:r>
              <a:rPr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A. Gorla, A. Zeller, S. </a:t>
            </a:r>
            <a:r>
              <a:rPr lang="en-US" altLang="zh-CN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Arzt</a:t>
            </a:r>
            <a:r>
              <a:rPr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S. </a:t>
            </a:r>
            <a:r>
              <a:rPr lang="en-US" altLang="zh-CN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Rasthofer</a:t>
            </a:r>
            <a:r>
              <a:rPr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and E. </a:t>
            </a:r>
            <a:r>
              <a:rPr lang="en-US" altLang="zh-CN" sz="1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Bodden</a:t>
            </a:r>
            <a:r>
              <a:rPr lang="en-US" altLang="zh-CN" sz="14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“Mining apps for abnormal usage of sensitive data,” in Proceedings of the 37th International Conference on Software Engineering - Volume 1, ser. ICSE ’15. IEEE Press, 2015, p. 426–436.</a:t>
            </a:r>
            <a:endParaRPr lang="zh-CN" alt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158" y="1687513"/>
          <a:ext cx="1209865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5376545" imgH="2204720" progId="Visio.Drawing.15">
                  <p:embed/>
                </p:oleObj>
              </mc:Choice>
              <mc:Fallback>
                <p:oleObj name="Visio" r:id="rId2" imgW="5376545" imgH="2204720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8" y="1687513"/>
                        <a:ext cx="12098655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Example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158" y="1687513"/>
          <a:ext cx="1209865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5376545" imgH="2204720" progId="Visio.Drawing.15">
                  <p:embed/>
                </p:oleObj>
              </mc:Choice>
              <mc:Fallback>
                <p:oleObj name="Visio" r:id="rId2" imgW="5376545" imgH="2204720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8" y="1687513"/>
                        <a:ext cx="12098655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</a:t>
            </a:r>
            <a:endParaRPr lang="en-US" altLang="zh-CN" sz="1600" b="1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158" y="1687513"/>
          <a:ext cx="1209865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5376545" imgH="2204720" progId="Visio.Drawing.15">
                  <p:embed/>
                </p:oleObj>
              </mc:Choice>
              <mc:Fallback>
                <p:oleObj name="Visio" r:id="rId2" imgW="5376545" imgH="2204720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8" y="1687513"/>
                        <a:ext cx="12098655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</a:t>
            </a:r>
            <a:endParaRPr lang="en-US" altLang="zh-CN" sz="1600" b="1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158" y="1687513"/>
          <a:ext cx="1209865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5376545" imgH="2204720" progId="Visio.Drawing.15">
                  <p:embed/>
                </p:oleObj>
              </mc:Choice>
              <mc:Fallback>
                <p:oleObj name="Visio" r:id="rId2" imgW="5376545" imgH="2204720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8" y="1687513"/>
                        <a:ext cx="12098655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158" y="1687513"/>
          <a:ext cx="1209865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5376545" imgH="2204720" progId="Visio.Drawing.15">
                  <p:embed/>
                </p:oleObj>
              </mc:Choice>
              <mc:Fallback>
                <p:oleObj name="Visio" r:id="rId2" imgW="5376545" imgH="2204720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58" y="1687513"/>
                        <a:ext cx="12098655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513"/>
          <a:ext cx="12098338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513"/>
                        <a:ext cx="12098338" cy="378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59" y="1687779"/>
          <a:ext cx="12098655" cy="378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5376545" imgH="2204720" progId="Visio.Drawing.15">
                  <p:embed/>
                </p:oleObj>
              </mc:Choice>
              <mc:Fallback>
                <p:oleObj name="Visio" r:id="rId2" imgW="5376545" imgH="2204720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59" y="1687779"/>
                        <a:ext cx="12098655" cy="3783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>
          <a:xfrm>
            <a:off x="5794587" y="5170033"/>
            <a:ext cx="448734" cy="4857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43321" y="541288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leak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425752" y="1523125"/>
            <a:ext cx="3990975" cy="57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Access-Path-based IFDS Analysis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336165" y="1858645"/>
            <a:ext cx="3880485" cy="579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50965" y="2308860"/>
            <a:ext cx="2466340" cy="579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-59" y="1687779"/>
          <a:ext cx="12098655" cy="378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59" y="1687779"/>
                        <a:ext cx="12098655" cy="3783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5032829" y="5900437"/>
                <a:ext cx="212634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𝑣𝑎𝑙𝑖𝑑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𝑝𝑎𝑡ℎ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:</m:t>
                      </m:r>
                      <m:acc>
                        <m:accPr>
                          <m:chr m:val="̅"/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829" y="5900437"/>
                <a:ext cx="212634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1" t="-5" r="9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IDEDroid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0" y="1687967"/>
          <a:ext cx="12098537" cy="3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Visio" r:id="rId2" imgW="6067425" imgH="2488565" progId="Visio.Drawing.15">
                  <p:embed/>
                </p:oleObj>
              </mc:Choice>
              <mc:Fallback>
                <p:oleObj name="Visio" r:id="rId2" imgW="6067425" imgH="2488565" progId="Visio.Drawing.15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687967"/>
                        <a:ext cx="12098537" cy="3783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5032829" y="5900437"/>
                <a:ext cx="2126342" cy="376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𝑖𝑛𝑣𝑎𝑙𝑖𝑑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𝑝𝑎𝑡ℎ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:</m:t>
                      </m:r>
                      <m:acc>
                        <m:accPr>
                          <m:chr m:val="̅"/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𝑓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829" y="5900437"/>
                <a:ext cx="2126342" cy="376065"/>
              </a:xfrm>
              <a:prstGeom prst="rect">
                <a:avLst/>
              </a:prstGeom>
              <a:blipFill rotWithShape="1">
                <a:blip r:embed="rId4"/>
                <a:stretch>
                  <a:fillRect l="-21" t="-5" r="9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 flipV="1">
            <a:off x="425752" y="1509155"/>
            <a:ext cx="1732915" cy="196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6560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Our Approach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9" y="1007903"/>
            <a:ext cx="5641863" cy="33405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53" y="1007903"/>
            <a:ext cx="5884647" cy="334057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4477548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Time complexity: O(|E||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benchmarks, access-path-based IFDS analysis processes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5.3×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more facts 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than our approach on average, peaking at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9.3×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for CGZCA.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IDEDroid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significantly outperforms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FlowDroid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achieving speedups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222×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on average.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Challenges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6410" y="951958"/>
            <a:ext cx="5396230" cy="5183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C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hallenges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Q1. How to propagate base variables and construct field accesses concurrently? 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Q2. How to model field access?</a:t>
            </a:r>
            <a:endParaRPr lang="en-US" altLang="zh-CN" sz="28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Q3. How to solve it efficiently?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85134" y="951958"/>
            <a:ext cx="5396230" cy="58294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Our approach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A1. IFDS =&gt; IDE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A2. Flow-sensitive CFL for Field-Sensitivity</a:t>
            </a:r>
            <a:endParaRPr lang="en-US" altLang="zh-CN" sz="28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A3. Efficient CFL-Reachability Solving 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5" name="箭头: 右 4"/>
          <p:cNvSpPr/>
          <p:nvPr/>
        </p:nvSpPr>
        <p:spPr>
          <a:xfrm>
            <a:off x="5704117" y="1930400"/>
            <a:ext cx="667657" cy="15965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箭头: 右 5"/>
          <p:cNvSpPr/>
          <p:nvPr/>
        </p:nvSpPr>
        <p:spPr>
          <a:xfrm>
            <a:off x="5704117" y="4467960"/>
            <a:ext cx="667657" cy="15965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箭头: 右 6"/>
          <p:cNvSpPr/>
          <p:nvPr/>
        </p:nvSpPr>
        <p:spPr>
          <a:xfrm>
            <a:off x="5704117" y="5810532"/>
            <a:ext cx="667657" cy="15965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25752" y="1528840"/>
            <a:ext cx="19709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Framework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007" y="2584576"/>
            <a:ext cx="7577985" cy="34506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5752" y="1558736"/>
            <a:ext cx="11201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IDEDroid</a:t>
            </a:r>
            <a:r>
              <a:rPr lang="en-US" altLang="zh-CN" sz="2000" dirty="0"/>
              <a:t> reinterprets the generation of access paths as a CFL for field-sensitivity and formulates it as an IDE problem. </a:t>
            </a:r>
            <a:r>
              <a:rPr lang="en-US" altLang="zh-CN" sz="2000" dirty="0" err="1"/>
              <a:t>IDEDroid</a:t>
            </a:r>
            <a:r>
              <a:rPr lang="en-US" altLang="zh-CN" sz="2000" dirty="0"/>
              <a:t> uses Boomerang, a demand-driven, flow-, field-, and context-sensitive pointer analysis, for alias queries at field stores of base variables in </a:t>
            </a:r>
            <a:r>
              <a:rPr lang="zh-CN" altLang="en-US" sz="2000" dirty="0"/>
              <a:t>𝐷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74503" y="6184621"/>
                <a:ext cx="10703293" cy="673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</a:rPr>
                  <a:t>In </a:t>
                </a:r>
                <a:r>
                  <a:rPr lang="en-US" altLang="zh-CN" dirty="0" err="1">
                    <a:latin typeface="Arial" panose="020B0604020202020204" pitchFamily="34" charset="0"/>
                  </a:rPr>
                  <a:t>IDEDroid</a:t>
                </a:r>
                <a:r>
                  <a:rPr lang="en-US" altLang="zh-CN" dirty="0">
                    <a:latin typeface="Arial" panose="020B0604020202020204" pitchFamily="34" charset="0"/>
                  </a:rPr>
                  <a:t>, env(</a:t>
                </a:r>
                <a:r>
                  <a:rPr lang="zh-CN" altLang="en-US" dirty="0">
                    <a:latin typeface="Arial" panose="020B0604020202020204" pitchFamily="34" charset="0"/>
                  </a:rPr>
                  <a:t>𝐷</a:t>
                </a:r>
                <a:r>
                  <a:rPr lang="en-US" altLang="zh-CN" dirty="0">
                    <a:latin typeface="Arial" panose="020B0604020202020204" pitchFamily="34" charset="0"/>
                  </a:rPr>
                  <a:t>, </a:t>
                </a:r>
                <a:r>
                  <a:rPr lang="zh-CN" altLang="en-US" dirty="0">
                    <a:latin typeface="Arial" panose="020B0604020202020204" pitchFamily="34" charset="0"/>
                  </a:rPr>
                  <a:t>𝐿</a:t>
                </a:r>
                <a:r>
                  <a:rPr lang="en-US" altLang="zh-CN" dirty="0">
                    <a:latin typeface="Arial" panose="020B0604020202020204" pitchFamily="34" charset="0"/>
                  </a:rPr>
                  <a:t>) associates each base variable </a:t>
                </a:r>
                <a:r>
                  <a:rPr lang="zh-CN" altLang="en-US" dirty="0">
                    <a:latin typeface="Arial" panose="020B0604020202020204" pitchFamily="34" charset="0"/>
                  </a:rPr>
                  <a:t>𝐷</a:t>
                </a:r>
                <a:r>
                  <a:rPr lang="en-US" altLang="zh-CN" dirty="0">
                    <a:latin typeface="Arial" panose="020B0604020202020204" pitchFamily="34" charset="0"/>
                  </a:rPr>
                  <a:t>with a set </a:t>
                </a:r>
                <a:r>
                  <a:rPr lang="zh-CN" altLang="en-US" dirty="0">
                    <a:latin typeface="Arial" panose="020B0604020202020204" pitchFamily="34" charset="0"/>
                  </a:rPr>
                  <a:t>𝐿</a:t>
                </a:r>
                <a:r>
                  <a:rPr lang="en-US" altLang="zh-CN" dirty="0">
                    <a:latin typeface="Arial" panose="020B0604020202020204" pitchFamily="34" charset="0"/>
                  </a:rPr>
                  <a:t>of 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field access strings</a:t>
                </a:r>
                <a:r>
                  <a:rPr lang="en-US" altLang="zh-CN" dirty="0">
                    <a:latin typeface="Arial" panose="020B0604020202020204" pitchFamily="34" charset="0"/>
                  </a:rPr>
                  <a:t>, where each string </a:t>
                </a:r>
                <a:r>
                  <a:rPr lang="zh-CN" altLang="en-US" dirty="0">
                    <a:latin typeface="Arial" panose="020B0604020202020204" pitchFamily="34" charset="0"/>
                  </a:rPr>
                  <a:t>𝑙∈ 𝐿 </a:t>
                </a:r>
                <a:r>
                  <a:rPr lang="en-US" altLang="zh-CN" dirty="0">
                    <a:latin typeface="Arial" panose="020B0604020202020204" pitchFamily="34" charset="0"/>
                  </a:rPr>
                  <a:t>consists of labels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altLang="zh-CN" dirty="0">
                    <a:latin typeface="Arial" panose="020B0604020202020204" pitchFamily="34" charset="0"/>
                  </a:rPr>
                  <a:t>, </a:t>
                </a:r>
                <a:r>
                  <a:rPr lang="zh-CN" altLang="en-US" dirty="0">
                    <a:latin typeface="Arial" panose="020B0604020202020204" pitchFamily="34" charset="0"/>
                  </a:rPr>
                  <a:t>𝑓</a:t>
                </a:r>
                <a:r>
                  <a:rPr lang="en-US" altLang="zh-CN" dirty="0">
                    <a:latin typeface="Arial" panose="020B0604020202020204" pitchFamily="34" charset="0"/>
                  </a:rPr>
                  <a:t>,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altLang="zh-CN" dirty="0">
                    <a:latin typeface="Arial" panose="020B0604020202020204" pitchFamily="34" charset="0"/>
                  </a:rPr>
                  <a:t>, or </a:t>
                </a:r>
                <a:r>
                  <a:rPr lang="zh-CN" altLang="en-US" dirty="0">
                    <a:latin typeface="Arial" panose="020B0604020202020204" pitchFamily="34" charset="0"/>
                  </a:rPr>
                  <a:t>𝜖</a:t>
                </a:r>
                <a:r>
                  <a:rPr lang="en-US" altLang="zh-CN" dirty="0">
                    <a:latin typeface="Arial" panose="020B0604020202020204" pitchFamily="34" charset="0"/>
                  </a:rPr>
                  <a:t>for the empty string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3" y="6184621"/>
                <a:ext cx="10703293" cy="673100"/>
              </a:xfrm>
              <a:prstGeom prst="rect">
                <a:avLst/>
              </a:prstGeom>
              <a:blipFill rotWithShape="1">
                <a:blip r:embed="rId3"/>
                <a:stretch>
                  <a:fillRect l="-1" t="-2506" r="5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8" y="105733"/>
            <a:ext cx="1440887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Flow Functions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356" y="967284"/>
            <a:ext cx="7911288" cy="28563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356" y="3901088"/>
            <a:ext cx="7912839" cy="237077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4143" y="2210805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FlowDroid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64142" y="490180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IDEDroid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055235" y="6348730"/>
            <a:ext cx="2083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details in the paper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CFL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40" y="2539365"/>
            <a:ext cx="3816985" cy="19132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62780" y="1135380"/>
            <a:ext cx="33299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checking field access string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245" y="1638935"/>
            <a:ext cx="3354705" cy="3067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96148" y="4547870"/>
            <a:ext cx="26384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(a) CFG for field access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without kill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36143" y="4789170"/>
            <a:ext cx="2638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(b) CFG for field access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444105" y="5240655"/>
                <a:ext cx="2293620" cy="54038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𝑖𝑛𝑣𝑎𝑙𝑖𝑑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 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𝑓</m:t>
                      </m:r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105" y="5240655"/>
                <a:ext cx="2293620" cy="5403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444105" y="6014720"/>
                <a:ext cx="2293620" cy="54038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𝑖𝑛𝑣𝑎𝑙𝑖𝑑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: 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105" y="6014720"/>
                <a:ext cx="2293620" cy="5403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6846570" y="3751580"/>
            <a:ext cx="3336290" cy="472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46570" y="4233545"/>
            <a:ext cx="3336290" cy="472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4" name="曲线连接符 13"/>
          <p:cNvCxnSpPr>
            <a:stCxn id="10" idx="3"/>
            <a:endCxn id="8" idx="3"/>
          </p:cNvCxnSpPr>
          <p:nvPr/>
        </p:nvCxnSpPr>
        <p:spPr>
          <a:xfrm flipH="1">
            <a:off x="9737725" y="3987800"/>
            <a:ext cx="445135" cy="1523365"/>
          </a:xfrm>
          <a:prstGeom prst="curvedConnector3">
            <a:avLst>
              <a:gd name="adj1" fmla="val -53495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曲线连接符 15"/>
          <p:cNvCxnSpPr>
            <a:stCxn id="11" idx="3"/>
            <a:endCxn id="9" idx="3"/>
          </p:cNvCxnSpPr>
          <p:nvPr/>
        </p:nvCxnSpPr>
        <p:spPr>
          <a:xfrm flipH="1">
            <a:off x="9737725" y="4469765"/>
            <a:ext cx="445135" cy="1815465"/>
          </a:xfrm>
          <a:prstGeom prst="curvedConnector3">
            <a:avLst>
              <a:gd name="adj1" fmla="val -53495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4" idx="2"/>
          </p:cNvCxnSpPr>
          <p:nvPr/>
        </p:nvCxnSpPr>
        <p:spPr>
          <a:xfrm flipH="1">
            <a:off x="6099175" y="1503933"/>
            <a:ext cx="28575" cy="514286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9" grpId="1"/>
      <p:bldP spid="10" grpId="0" bldLvl="0" animBg="1"/>
      <p:bldP spid="10" grpId="1" animBg="1"/>
      <p:bldP spid="11" grpId="0" bldLvl="0" animBg="1"/>
      <p:bldP spid="11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CFL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6410" y="2195830"/>
            <a:ext cx="111315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Solving CFL-Reachability problem is time-intensive. 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973263" y="3603625"/>
                <a:ext cx="8245475" cy="460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400" b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</a:rPr>
                  <a:t>represnets Cartesian product</a:t>
                </a:r>
                <a:endParaRPr lang="en-US" altLang="zh-CN" sz="2400" b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263" y="3603625"/>
                <a:ext cx="8245475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302839" y="4949825"/>
                <a:ext cx="9586323" cy="4616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      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CN" sz="24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</a:rPr>
                  <a:t> are valid field access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0" dirty="0">
                  <a:solidFill>
                    <a:srgbClr val="FF0000"/>
                  </a:solidFill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839" y="4949825"/>
                <a:ext cx="9586323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5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/>
          <p:cNvCxnSpPr/>
          <p:nvPr/>
        </p:nvCxnSpPr>
        <p:spPr>
          <a:xfrm>
            <a:off x="425752" y="1528840"/>
            <a:ext cx="4006850" cy="6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6"/>
          <p:cNvSpPr txBox="1"/>
          <p:nvPr/>
        </p:nvSpPr>
        <p:spPr>
          <a:xfrm>
            <a:off x="425450" y="1096010"/>
            <a:ext cx="414655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 CFL-Reachability Solving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3" descr="问号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9789" y="4949825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CFL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25752" y="1528840"/>
            <a:ext cx="4006850" cy="6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450" y="1096010"/>
            <a:ext cx="414655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Efficient CFL-Reachability Solving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" y="1782445"/>
            <a:ext cx="9228455" cy="43046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9531985" y="1782445"/>
                <a:ext cx="1970405" cy="4711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85" y="1782445"/>
                <a:ext cx="1970405" cy="4711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531985" y="2235200"/>
                <a:ext cx="1970405" cy="460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85" y="2235200"/>
                <a:ext cx="1970405" cy="4603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531985" y="2687955"/>
                <a:ext cx="1970405" cy="460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85" y="2687955"/>
                <a:ext cx="1970405" cy="4603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9531985" y="3148330"/>
                <a:ext cx="1970405" cy="45275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85" y="3148330"/>
                <a:ext cx="1970405" cy="45275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/>
          <p:cNvCxnSpPr/>
          <p:nvPr/>
        </p:nvCxnSpPr>
        <p:spPr>
          <a:xfrm>
            <a:off x="9399270" y="1420113"/>
            <a:ext cx="0" cy="543814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9531985" y="3862705"/>
                <a:ext cx="1970405" cy="4705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85" y="3862705"/>
                <a:ext cx="1970405" cy="47053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9510395" y="4333240"/>
                <a:ext cx="1970405" cy="4705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395" y="4333240"/>
                <a:ext cx="1970405" cy="47053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9516745" y="4785360"/>
                <a:ext cx="1970405" cy="4705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745" y="4785360"/>
                <a:ext cx="1970405" cy="47053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9510395" y="5255895"/>
                <a:ext cx="1970405" cy="4711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...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⊗</m:t>
                      </m:r>
                      <m:acc>
                        <m:accPr>
                          <m:chr m:val="̃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</m:oMath>
                  </m:oMathPara>
                </a14:m>
                <a:endParaRPr lang="en-US" altLang="zh-CN" sz="2400" b="0" i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395" y="5255895"/>
                <a:ext cx="1970405" cy="47117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055235" y="6348730"/>
            <a:ext cx="2083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details in the paper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25752" y="1528840"/>
            <a:ext cx="19709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096000" y="3593083"/>
            <a:ext cx="0" cy="32649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51798" y="4109988"/>
            <a:ext cx="3696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b1.h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b1.h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：</a:t>
            </a:r>
            <a:r>
              <a:rPr lang="en-US" altLang="zh-CN" dirty="0" err="1"/>
              <a:t>p.h</a:t>
            </a:r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</a:rPr>
              <a:t>x.f1.f2.*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9</a:t>
            </a:r>
            <a:r>
              <a:rPr lang="zh-CN" altLang="en-US" dirty="0"/>
              <a:t>：</a:t>
            </a:r>
            <a:r>
              <a:rPr lang="en-US" altLang="zh-CN" dirty="0"/>
              <a:t>y.*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b2.*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c.*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leak(false positive)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5518757" y="1131525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2-limiting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6423727" y="4108435"/>
                <a:ext cx="3894551" cy="2346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b1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ℎ</m:t>
                        </m:r>
                      </m:e>
                    </m:acc>
                  </m:oMath>
                </a14:m>
                <a:r>
                  <a:rPr lang="en-US" altLang="zh-CN" dirty="0"/>
                  <a:t>&gt;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b1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ℎ</m:t>
                        </m:r>
                      </m:e>
                    </m:acc>
                  </m:oMath>
                </a14:m>
                <a:r>
                  <a:rPr lang="en-US" altLang="zh-CN" dirty="0"/>
                  <a:t>&gt;</a:t>
                </a:r>
                <a:endParaRPr lang="en-US" altLang="zh-CN" dirty="0"/>
              </a:p>
              <a:p>
                <a:r>
                  <a:rPr lang="en-US" altLang="zh-CN" dirty="0"/>
                  <a:t>7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p   &lt;&gt;</a:t>
                </a:r>
                <a:endParaRPr lang="en-US" altLang="zh-CN" dirty="0"/>
              </a:p>
              <a:p>
                <a:r>
                  <a:rPr lang="en-US" altLang="zh-CN" dirty="0"/>
                  <a:t>8</a:t>
                </a:r>
                <a:r>
                  <a:rPr lang="zh-CN" altLang="en-US" dirty="0"/>
                  <a:t>：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x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acc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&gt;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en-US" altLang="zh-CN" dirty="0"/>
                  <a:t>9</a:t>
                </a:r>
                <a:r>
                  <a:rPr lang="zh-CN" altLang="en-US" dirty="0"/>
                  <a:t>：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y &lt;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e>
                    </m:acc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2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&gt;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→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y &lt;&gt;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b2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ℎ</m:t>
                        </m:r>
                      </m:e>
                    </m:acc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altLang="zh-CN" dirty="0"/>
                  <a:t>&gt;</a:t>
                </a:r>
                <a:endParaRPr lang="en-US" altLang="zh-CN" dirty="0"/>
              </a:p>
              <a:p>
                <a:r>
                  <a:rPr lang="en-US" altLang="zh-CN" dirty="0"/>
                  <a:t>4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c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ℎ</m:t>
                        </m:r>
                      </m:e>
                    </m:acc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𝑔</m:t>
                    </m:r>
                  </m:oMath>
                </a14:m>
                <a:r>
                  <a:rPr lang="en-US" altLang="zh-CN" dirty="0"/>
                  <a:t>&gt; invalid field access string</a:t>
                </a:r>
                <a:endParaRPr lang="en-US" altLang="zh-CN" dirty="0"/>
              </a:p>
              <a:p>
                <a:r>
                  <a:rPr lang="en-US" altLang="zh-CN" dirty="0"/>
                  <a:t>5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no leak</a:t>
                </a:r>
                <a:endParaRPr lang="en-US" altLang="zh-CN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27" y="4108435"/>
                <a:ext cx="3894551" cy="2346155"/>
              </a:xfrm>
              <a:prstGeom prst="rect">
                <a:avLst/>
              </a:prstGeom>
              <a:blipFill rotWithShape="1">
                <a:blip r:embed="rId2"/>
                <a:stretch>
                  <a:fillRect l="-2" t="-26" r="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2678692" y="1516600"/>
            <a:ext cx="32865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main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{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b1.h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source();</a:t>
            </a:r>
            <a:endParaRPr lang="en-US" altLang="zh-CN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3   </a:t>
            </a:r>
            <a:r>
              <a:rPr lang="en-US" altLang="zh-CN" dirty="0">
                <a:latin typeface="Courier New" panose="02070309020205020404" pitchFamily="49" charset="0"/>
              </a:rPr>
              <a:t>b2 = foo(b1);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c = b2.g;</a:t>
            </a:r>
            <a:endParaRPr lang="en-US" altLang="zh-CN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sink(c); </a:t>
            </a:r>
            <a:r>
              <a:rPr lang="en-US" altLang="zh-CN" dirty="0">
                <a:solidFill>
                  <a:srgbClr val="00B050"/>
                </a:solidFill>
                <a:latin typeface="Courier New" panose="02070309020205020404" pitchFamily="49" charset="0"/>
              </a:rPr>
              <a:t>//no leak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altLang="zh-CN" b="1" dirty="0">
              <a:solidFill>
                <a:srgbClr val="000080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73240" y="1528840"/>
            <a:ext cx="32865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foo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(</a:t>
            </a:r>
            <a:r>
              <a:rPr lang="en-US" altLang="zh-CN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p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{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x.f1.f2 = p;</a:t>
            </a:r>
            <a:endParaRPr lang="en-US" altLang="zh-CN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9   </a:t>
            </a:r>
            <a:r>
              <a:rPr lang="en-US" altLang="zh-CN" dirty="0">
                <a:latin typeface="Courier New" panose="02070309020205020404" pitchFamily="49" charset="0"/>
              </a:rPr>
              <a:t>y = x.f1.f2;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return y;</a:t>
            </a:r>
            <a:endParaRPr lang="en-US" altLang="zh-CN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11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altLang="zh-CN" b="1" dirty="0">
              <a:solidFill>
                <a:srgbClr val="000080"/>
              </a:solidFill>
              <a:latin typeface="Courier New" panose="020703090202050204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22606" y="3479564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FlowDroid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375153" y="347956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IDEDroid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25752" y="1528840"/>
            <a:ext cx="197093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096000" y="3593083"/>
            <a:ext cx="0" cy="32649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51798" y="4109988"/>
            <a:ext cx="3696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a.*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a.*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b.*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leak(false positive)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52722" y="1465019"/>
            <a:ext cx="32865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main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  <a:sym typeface="+mn-ea"/>
              </a:rPr>
              <a:t>{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a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source();</a:t>
            </a:r>
            <a:endParaRPr lang="en-US" altLang="zh-CN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3   </a:t>
            </a:r>
            <a:r>
              <a:rPr lang="en-US" altLang="zh-CN" dirty="0" err="1">
                <a:latin typeface="Courier New" panose="02070309020205020404" pitchFamily="49" charset="0"/>
              </a:rPr>
              <a:t>a.f</a:t>
            </a:r>
            <a:r>
              <a:rPr lang="en-US" altLang="zh-CN" dirty="0">
                <a:latin typeface="Courier New" panose="02070309020205020404" pitchFamily="49" charset="0"/>
              </a:rPr>
              <a:t> = sanitizer();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b = 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a.f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zh-CN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  sink(b); </a:t>
            </a:r>
            <a:r>
              <a:rPr lang="en-US" altLang="zh-CN" dirty="0">
                <a:solidFill>
                  <a:srgbClr val="00B050"/>
                </a:solidFill>
                <a:latin typeface="Courier New" panose="02070309020205020404" pitchFamily="49" charset="0"/>
              </a:rPr>
              <a:t>//no leak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altLang="zh-CN" b="1" dirty="0">
              <a:solidFill>
                <a:srgbClr val="000080"/>
              </a:solidFill>
              <a:latin typeface="Courier New" panose="020703090202050204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22606" y="3479564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FlowDroid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375153" y="347956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IDEDroid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6534255" y="4109988"/>
                <a:ext cx="3696100" cy="122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a &lt;&gt;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a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altLang="zh-CN" dirty="0"/>
                  <a:t>&gt;</a:t>
                </a:r>
                <a:endParaRPr lang="en-US" altLang="zh-CN" dirty="0"/>
              </a:p>
              <a:p>
                <a:r>
                  <a:rPr lang="en-US" altLang="zh-CN" dirty="0"/>
                  <a:t>4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b 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altLang="zh-CN" dirty="0"/>
                  <a:t>&gt;</a:t>
                </a:r>
                <a:r>
                  <a:rPr lang="zh-CN" altLang="en-US" dirty="0"/>
                  <a:t> → </a:t>
                </a:r>
                <a:r>
                  <a:rPr lang="en-US" altLang="zh-CN" dirty="0"/>
                  <a:t>b &lt;&gt;</a:t>
                </a:r>
                <a:endParaRPr lang="en-US" altLang="zh-CN" dirty="0"/>
              </a:p>
              <a:p>
                <a:r>
                  <a:rPr lang="en-US" altLang="zh-CN" dirty="0"/>
                  <a:t>5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no leak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255" y="4109988"/>
                <a:ext cx="3696100" cy="1224759"/>
              </a:xfrm>
              <a:prstGeom prst="rect">
                <a:avLst/>
              </a:prstGeom>
              <a:blipFill rotWithShape="1">
                <a:blip r:embed="rId2"/>
                <a:stretch>
                  <a:fillRect l="-3" t="-22" r="1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Evaluation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446314" y="905308"/>
            <a:ext cx="11299372" cy="595269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Benchmarks: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14</a:t>
            </a:r>
            <a:r>
              <a:rPr lang="en-US" altLang="zh-CN" dirty="0"/>
              <a:t> apps (</a:t>
            </a:r>
            <a:r>
              <a:rPr lang="en-US" altLang="zh-CN" dirty="0" err="1"/>
              <a:t>FossDroid</a:t>
            </a:r>
            <a:r>
              <a:rPr lang="en-US" altLang="zh-CN" dirty="0"/>
              <a:t>) + </a:t>
            </a:r>
            <a:r>
              <a:rPr lang="en-US" altLang="zh-CN" dirty="0">
                <a:solidFill>
                  <a:srgbClr val="0070C0"/>
                </a:solidFill>
              </a:rPr>
              <a:t>10</a:t>
            </a:r>
            <a:r>
              <a:rPr lang="en-US" altLang="zh-CN" dirty="0"/>
              <a:t> apps (</a:t>
            </a:r>
            <a:r>
              <a:rPr lang="en-US" altLang="zh-CN" dirty="0" err="1"/>
              <a:t>Drebin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Platform:</a:t>
            </a:r>
            <a:endParaRPr lang="en-US" altLang="zh-CN" dirty="0"/>
          </a:p>
          <a:p>
            <a:pPr lvl="1"/>
            <a:r>
              <a:rPr lang="en-US" altLang="zh-CN" dirty="0"/>
              <a:t>Intel Core(TM) i5-10210U machine (2.11GHz) with 40 GB of RAM</a:t>
            </a:r>
            <a:endParaRPr lang="en-US" altLang="zh-CN" dirty="0"/>
          </a:p>
          <a:p>
            <a:pPr lvl="1"/>
            <a:r>
              <a:rPr lang="en-US" altLang="zh-CN" dirty="0"/>
              <a:t>Time budget: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altLang="zh-CN" dirty="0"/>
              <a:t> hours</a:t>
            </a:r>
            <a:endParaRPr lang="en-US" altLang="zh-CN" dirty="0"/>
          </a:p>
          <a:p>
            <a:pPr lvl="1"/>
            <a:r>
              <a:rPr lang="en-US" altLang="zh-CN" dirty="0" err="1"/>
              <a:t>FlowDroid</a:t>
            </a:r>
            <a:r>
              <a:rPr lang="en-US" altLang="zh-CN" dirty="0"/>
              <a:t> + Boomerang</a:t>
            </a:r>
            <a:endParaRPr lang="en-US" altLang="zh-CN" dirty="0"/>
          </a:p>
          <a:p>
            <a:pPr lvl="1"/>
            <a:r>
              <a:rPr lang="en-US" altLang="zh-CN" dirty="0" err="1"/>
              <a:t>IDEDroid</a:t>
            </a:r>
            <a:r>
              <a:rPr lang="en-US" altLang="zh-CN" dirty="0"/>
              <a:t> + Boomerang</a:t>
            </a:r>
            <a:endParaRPr lang="en-US" altLang="zh-CN" dirty="0"/>
          </a:p>
          <a:p>
            <a:r>
              <a:rPr lang="en-US" altLang="zh-CN" dirty="0"/>
              <a:t>Configs:</a:t>
            </a:r>
            <a:endParaRPr lang="en-US" altLang="zh-CN" dirty="0"/>
          </a:p>
          <a:p>
            <a:pPr lvl="1"/>
            <a:r>
              <a:rPr lang="en-US" altLang="zh-CN" dirty="0"/>
              <a:t>Default sources, sinks, summaries and so on from Boomerang</a:t>
            </a:r>
            <a:endParaRPr lang="en-US" altLang="zh-CN" dirty="0"/>
          </a:p>
          <a:p>
            <a:r>
              <a:rPr lang="en-US" altLang="zh-CN" dirty="0" err="1"/>
              <a:t>IDEDroid</a:t>
            </a:r>
            <a:r>
              <a:rPr lang="en-US" altLang="zh-CN" dirty="0"/>
              <a:t> and </a:t>
            </a:r>
            <a:r>
              <a:rPr lang="en-US" altLang="zh-CN" dirty="0" err="1"/>
              <a:t>FlowDroid</a:t>
            </a:r>
            <a:r>
              <a:rPr lang="en-US" altLang="zh-CN" dirty="0"/>
              <a:t> identified identical leaks on 327 unit tests from Boomerang</a:t>
            </a:r>
            <a:endParaRPr lang="en-US" altLang="zh-CN" dirty="0"/>
          </a:p>
          <a:p>
            <a:r>
              <a:rPr lang="en-US" altLang="zh-CN" dirty="0"/>
              <a:t>Questions:</a:t>
            </a:r>
            <a:endParaRPr lang="en-US" altLang="zh-CN" dirty="0"/>
          </a:p>
          <a:p>
            <a:pPr lvl="1"/>
            <a:r>
              <a:rPr lang="en-US" altLang="zh-CN" dirty="0"/>
              <a:t>RQ1. How does </a:t>
            </a:r>
            <a:r>
              <a:rPr lang="en-US" altLang="zh-CN" dirty="0" err="1"/>
              <a:t>IDEDroid’s</a:t>
            </a:r>
            <a:r>
              <a:rPr lang="en-US" altLang="zh-CN" dirty="0"/>
              <a:t> performance compare with that of </a:t>
            </a:r>
            <a:r>
              <a:rPr lang="en-US" altLang="zh-CN" dirty="0" err="1"/>
              <a:t>FlowDroid</a:t>
            </a:r>
            <a:r>
              <a:rPr lang="en-US" altLang="zh-CN" dirty="0"/>
              <a:t>?</a:t>
            </a:r>
            <a:endParaRPr lang="en-US" altLang="zh-CN" dirty="0"/>
          </a:p>
          <a:p>
            <a:pPr lvl="1"/>
            <a:r>
              <a:rPr lang="en-US" altLang="zh-CN" dirty="0"/>
              <a:t>RQ2. Does </a:t>
            </a:r>
            <a:r>
              <a:rPr lang="en-US" altLang="zh-CN" dirty="0" err="1"/>
              <a:t>IDEDroid</a:t>
            </a:r>
            <a:r>
              <a:rPr lang="en-US" altLang="zh-CN" dirty="0"/>
              <a:t> offer greater precision than </a:t>
            </a:r>
            <a:r>
              <a:rPr lang="en-US" altLang="zh-CN" dirty="0" err="1"/>
              <a:t>FlowDroid</a:t>
            </a:r>
            <a:r>
              <a:rPr lang="en-US" altLang="zh-CN" dirty="0"/>
              <a:t>?</a:t>
            </a:r>
            <a:endParaRPr lang="en-US" altLang="zh-CN" dirty="0"/>
          </a:p>
          <a:p>
            <a:pPr lvl="1"/>
            <a:r>
              <a:rPr lang="en-US" altLang="zh-CN" dirty="0"/>
              <a:t>RQ3. Can </a:t>
            </a:r>
            <a:r>
              <a:rPr lang="en-US" altLang="zh-CN" dirty="0" err="1"/>
              <a:t>IDEDroid</a:t>
            </a:r>
            <a:r>
              <a:rPr lang="en-US" altLang="zh-CN" dirty="0"/>
              <a:t> facilitate tradeoffs between efficiency and precision?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15264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Facts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33" y="1454434"/>
            <a:ext cx="7902134" cy="473300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420" y="6299200"/>
            <a:ext cx="121335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/>
              <a:t>The ratio of the data-flow facts processed by FlowDroid over that of IDEDroid.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15264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Speedup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229" y="839538"/>
            <a:ext cx="5802298" cy="6018462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124009" y="2967335"/>
            <a:ext cx="314701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Average: 222.0×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Min:	 2.1× (FNK)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Max:	 2, 368.4×(</a:t>
            </a:r>
            <a:r>
              <a:rPr lang="en-US" altLang="zh-CN" dirty="0" err="1">
                <a:latin typeface="Arial" panose="020B0604020202020204" pitchFamily="34" charset="0"/>
              </a:rPr>
              <a:t>SMSreg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50350" y="839470"/>
            <a:ext cx="545465" cy="60020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19775" y="5172710"/>
            <a:ext cx="3972560" cy="25019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5" name="直接连接符 3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8" name="TextBox 6"/>
          <p:cNvSpPr txBox="1"/>
          <p:nvPr/>
        </p:nvSpPr>
        <p:spPr>
          <a:xfrm>
            <a:off x="33749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47831" y="1383282"/>
            <a:ext cx="1411935" cy="1535520"/>
            <a:chOff x="1026465" y="2841804"/>
            <a:chExt cx="1411935" cy="1535520"/>
          </a:xfrm>
        </p:grpSpPr>
        <p:sp>
          <p:nvSpPr>
            <p:cNvPr id="23" name="矩形 22"/>
            <p:cNvSpPr/>
            <p:nvPr/>
          </p:nvSpPr>
          <p:spPr>
            <a:xfrm>
              <a:off x="1026466" y="4007992"/>
              <a:ext cx="141193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等线" panose="02010600030101010101" charset="-122"/>
                </a:rPr>
                <a:t>MusicPiped</a:t>
              </a:r>
              <a:r>
                <a:rPr lang="en-US" altLang="zh-CN" b="1" dirty="0"/>
                <a:t> </a:t>
              </a:r>
              <a:endParaRPr lang="zh-CN" altLang="en-US" b="1" dirty="0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465" y="2841804"/>
              <a:ext cx="1336562" cy="1336562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52591" y="2993837"/>
            <a:ext cx="1336562" cy="1441412"/>
            <a:chOff x="1026465" y="1313305"/>
            <a:chExt cx="1336562" cy="1441412"/>
          </a:xfrm>
        </p:grpSpPr>
        <p:sp>
          <p:nvSpPr>
            <p:cNvPr id="24" name="矩形 23"/>
            <p:cNvSpPr/>
            <p:nvPr/>
          </p:nvSpPr>
          <p:spPr>
            <a:xfrm>
              <a:off x="1026465" y="2386417"/>
              <a:ext cx="1336562" cy="3683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000000"/>
                  </a:solidFill>
                  <a:latin typeface="等线" panose="02010600030101010101" charset="-122"/>
                </a:rPr>
                <a:t>AndrOBD </a:t>
              </a:r>
              <a:r>
                <a:rPr lang="en-US" altLang="zh-CN" b="1" dirty="0"/>
                <a:t> </a:t>
              </a:r>
              <a:endParaRPr lang="zh-CN" altLang="en-US" b="1" dirty="0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465" y="1313305"/>
              <a:ext cx="1336562" cy="1085906"/>
            </a:xfrm>
            <a:prstGeom prst="rect">
              <a:avLst/>
            </a:prstGeom>
          </p:spPr>
        </p:pic>
      </p:grpSp>
      <p:sp>
        <p:nvSpPr>
          <p:cNvPr id="27" name="矩形 26"/>
          <p:cNvSpPr/>
          <p:nvPr/>
        </p:nvSpPr>
        <p:spPr>
          <a:xfrm>
            <a:off x="9303616" y="1689377"/>
            <a:ext cx="23711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681.8×</a:t>
            </a:r>
            <a:endParaRPr lang="zh-CN" alt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303616" y="3252878"/>
            <a:ext cx="23711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529.4×</a:t>
            </a:r>
            <a:endParaRPr lang="zh-CN" alt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620408" y="5644785"/>
            <a:ext cx="188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Reduce FP</a:t>
            </a:r>
            <a:endParaRPr lang="zh-CN" altLang="en-US" sz="28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541" y="1532407"/>
            <a:ext cx="6430702" cy="12703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545" y="3088742"/>
            <a:ext cx="6430697" cy="12703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541" y="5138325"/>
            <a:ext cx="6430692" cy="1270313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712269" y="4851133"/>
            <a:ext cx="1079033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915" y="5471795"/>
            <a:ext cx="1758950" cy="603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15264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679642"/>
            <a:ext cx="8382000" cy="364951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200772" y="5943991"/>
            <a:ext cx="3790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Average: </a:t>
            </a:r>
            <a:r>
              <a:rPr lang="en-US" altLang="zh-CN" dirty="0" err="1">
                <a:latin typeface="Arial" panose="020B0604020202020204" pitchFamily="34" charset="0"/>
              </a:rPr>
              <a:t>FlowDroid</a:t>
            </a:r>
            <a:r>
              <a:rPr lang="en-US" altLang="zh-CN" dirty="0">
                <a:latin typeface="Arial" panose="020B0604020202020204" pitchFamily="34" charset="0"/>
              </a:rPr>
              <a:t>/</a:t>
            </a:r>
            <a:r>
              <a:rPr lang="en-US" altLang="zh-CN" dirty="0" err="1">
                <a:latin typeface="Arial" panose="020B0604020202020204" pitchFamily="34" charset="0"/>
              </a:rPr>
              <a:t>IDEDroid</a:t>
            </a:r>
            <a:r>
              <a:rPr lang="en-US" altLang="zh-CN" dirty="0">
                <a:latin typeface="Arial" panose="020B0604020202020204" pitchFamily="34" charset="0"/>
              </a:rPr>
              <a:t> = 3.6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RQ1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35076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1" y="1095838"/>
            <a:ext cx="358019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PathEdges+Summaries+Alias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35" y="1783615"/>
            <a:ext cx="9341330" cy="444522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9828" y="5907314"/>
            <a:ext cx="9499600" cy="3839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RQ2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15264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2" y="1095838"/>
            <a:ext cx="206292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Precision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00740" y="2282145"/>
          <a:ext cx="3990521" cy="2752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1347"/>
                <a:gridCol w="1489000"/>
                <a:gridCol w="1330174"/>
              </a:tblGrid>
              <a:tr h="45874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APP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leaks</a:t>
                      </a:r>
                      <a:endParaRPr lang="en-US" sz="2400" u="none" strike="noStrike">
                        <a:effectLst/>
                      </a:endParaRPr>
                    </a:p>
                  </a:txBody>
                  <a:tcPr marL="6350" marR="6350" marT="6350" marB="0" anchor="ctr"/>
                </a:tc>
                <a:tc hMerge="1">
                  <a:tcPr marL="6350" marR="6350" marT="6350" marB="0" anchor="ctr"/>
                </a:tc>
              </a:tr>
              <a:tr h="458742">
                <a:tc vMerge="1"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FlowDroid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IDEDroid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4584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CGZCA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26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23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458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OK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5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4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458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Geinimi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21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18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458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FakeDoc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>
                          <a:effectLst/>
                        </a:rPr>
                        <a:t>26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2400" u="none" strike="noStrike" dirty="0">
                          <a:effectLst/>
                        </a:rPr>
                        <a:t>25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RQ3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48574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1" y="1095838"/>
            <a:ext cx="495179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Limiting Field Accesses Per Base Variable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72" y="839538"/>
            <a:ext cx="5802298" cy="6018462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9827" y="3274551"/>
          <a:ext cx="5929085" cy="14604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7598"/>
                <a:gridCol w="1429332"/>
                <a:gridCol w="1305811"/>
                <a:gridCol w="1199933"/>
                <a:gridCol w="1076411"/>
              </a:tblGrid>
              <a:tr h="486833">
                <a:tc>
                  <a:txBody>
                    <a:bodyPr/>
                    <a:lstStyle/>
                    <a:p>
                      <a:pPr algn="l" fontAlgn="ctr"/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IDEDroid</a:t>
                      </a:r>
                      <a:r>
                        <a:rPr lang="en-US" sz="1800" u="none" strike="noStrike" baseline="-25000" dirty="0">
                          <a:effectLst/>
                        </a:rPr>
                        <a:t>10000</a:t>
                      </a:r>
                      <a:endParaRPr lang="en-US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IDEDroid</a:t>
                      </a:r>
                      <a:r>
                        <a:rPr lang="en-US" sz="1800" u="none" strike="noStrike" baseline="-25000" dirty="0">
                          <a:effectLst/>
                        </a:rPr>
                        <a:t>1000</a:t>
                      </a:r>
                      <a:endParaRPr lang="en-US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IDEDroid</a:t>
                      </a:r>
                      <a:r>
                        <a:rPr lang="en-US" sz="1800" u="none" strike="noStrike" baseline="-25000" dirty="0">
                          <a:effectLst/>
                        </a:rPr>
                        <a:t>100</a:t>
                      </a:r>
                      <a:endParaRPr lang="en-US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IDEDroid</a:t>
                      </a:r>
                      <a:r>
                        <a:rPr lang="en-US" sz="1800" u="none" strike="noStrike" baseline="-25000" dirty="0">
                          <a:effectLst/>
                        </a:rPr>
                        <a:t>10</a:t>
                      </a:r>
                      <a:endParaRPr lang="en-US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4868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Average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1.1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1.5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1.9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2.8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  <a:tr h="4868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Max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1.3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6.2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10.6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21.8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9827" y="22068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default setting for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IDEDroid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allows unrestricted number of field accesses per base variable.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827" y="51564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speedups with field accesses per base variable limited to 10,000, 1,000, 100, and 10 compared to its default setting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41280" y="839470"/>
            <a:ext cx="1882140" cy="60020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" y="175284"/>
            <a:ext cx="3079417" cy="465431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RQ3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5040949" y="113309"/>
            <a:ext cx="6461659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Boosting the Performance of Alias-Aware IFDS Analysis with CFL-based Environment Transformers</a:t>
            </a:r>
            <a:endParaRPr lang="en-US" altLang="zh-CN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752" y="1528840"/>
            <a:ext cx="345681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425752" y="1095838"/>
            <a:ext cx="3725334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Limiting Field Access Lengths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75" y="1577904"/>
            <a:ext cx="8696849" cy="524552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236595" y="3859215"/>
            <a:ext cx="5718810" cy="98710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kern="0" dirty="0"/>
              <a:t>Thanks!</a:t>
            </a:r>
            <a:endParaRPr lang="zh-CN" altLang="en-US" sz="5400" kern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37" y="2078803"/>
            <a:ext cx="2327926" cy="135019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28963" y="5159375"/>
            <a:ext cx="59340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/>
              <a:t>lihaofeng@ict.ac.cn</a:t>
            </a:r>
            <a:endParaRPr lang="en-US" altLang="zh-CN" sz="3600"/>
          </a:p>
          <a:p>
            <a:pPr algn="ctr"/>
            <a:r>
              <a:rPr lang="en-US" altLang="zh-CN" sz="3600"/>
              <a:t>https://leehaofeng.github.io</a:t>
            </a:r>
            <a:endParaRPr lang="en-US" altLang="zh-CN" sz="36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p="http://schemas.openxmlformats.org/presentationml/2006/main">
  <p:tag name="COMMONDATA" val="eyJoZGlkIjoiYTJlNjlhZmE2ZDg5ZTVhODIxY2FiMDQ0Y2IwOTJiMDgifQ==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 smtClean="0">
            <a:solidFill>
              <a:srgbClr val="FF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10985</Words>
  <Application>WPS 演示</Application>
  <PresentationFormat>宽屏</PresentationFormat>
  <Paragraphs>554</Paragraphs>
  <Slides>52</Slides>
  <Notes>56</Notes>
  <HiddenSlides>5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29</vt:i4>
      </vt:variant>
      <vt:variant>
        <vt:lpstr>幻灯片标题</vt:lpstr>
      </vt:variant>
      <vt:variant>
        <vt:i4>52</vt:i4>
      </vt:variant>
    </vt:vector>
  </HeadingPairs>
  <TitlesOfParts>
    <vt:vector size="95" baseType="lpstr">
      <vt:lpstr>Arial</vt:lpstr>
      <vt:lpstr>宋体</vt:lpstr>
      <vt:lpstr>Wingdings</vt:lpstr>
      <vt:lpstr>微软雅黑</vt:lpstr>
      <vt:lpstr>NimbusRomNo9L-Regu</vt:lpstr>
      <vt:lpstr>Segoe Print</vt:lpstr>
      <vt:lpstr>CMSY8</vt:lpstr>
      <vt:lpstr>Courier New</vt:lpstr>
      <vt:lpstr>等线</vt:lpstr>
      <vt:lpstr>Arial Unicode MS</vt:lpstr>
      <vt:lpstr>等线 Light</vt:lpstr>
      <vt:lpstr>Cambria Math</vt:lpstr>
      <vt:lpstr>BatangChe</vt:lpstr>
      <vt:lpstr>Office 主题​​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神奇的菠萝</cp:lastModifiedBy>
  <cp:revision>1985</cp:revision>
  <dcterms:created xsi:type="dcterms:W3CDTF">2016-11-24T09:20:00Z</dcterms:created>
  <dcterms:modified xsi:type="dcterms:W3CDTF">2026-04-13T03:08:25Z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072E8E064E5448439AA3DD61CECCB7FC_12</vt:lpwstr>
  </property>
</Properties>
</file>